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417320"/>
            <a:ext cx="11430000" cy="36576"/>
          </a:xfrm>
          <a:prstGeom prst="rect">
            <a:avLst/>
          </a:prstGeom>
          <a:solidFill>
            <a:srgbClr val="F5D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D78E"/>
                </a:solidFill>
              </a:rPr>
              <a:t>THE GENRE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F0E8"/>
                </a:solidFill>
              </a:rPr>
              <a:t>Why Non-Fiction — and why
this corner of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>
                <a:solidFill>
                  <a:srgbClr val="F5F0E8"/>
                </a:solidFill>
              </a:rPr>
              <a:t>  •  Non-fiction is dominated by self-help, business, and biographies — that's what algorithms push.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Left-wing thought, critical theory, and postcolonial studies form a rich intellectual tradition that gets almost no mainstream visibility.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Navigating this niche is genuinely hard: overlapping topics, thousands of authors, no clear entry points.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Capitalism, decolonisation, race, labour, feminist theory — these conversations matter, but the books are hard to find.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I wanted to build something that treats this genre seriously, not as a footnote.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4C5A9"/>
                </a:solidFill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417320"/>
            <a:ext cx="11430000" cy="36576"/>
          </a:xfrm>
          <a:prstGeom prst="rect">
            <a:avLst/>
          </a:prstGeom>
          <a:solidFill>
            <a:srgbClr val="F5D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D78E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F0E8"/>
                </a:solidFill>
              </a:rPr>
              <a:t>Why does a recommender help?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>
                <a:solidFill>
                  <a:srgbClr val="F5F0E8"/>
                </a:solidFill>
              </a:rPr>
              <a:t>  •  Nobody has time to browse 3,000 books.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Goodreads doesn't know this niche.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Amazon optimises for bestsellers, not theory.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Google gives you Wikipedia, not the next book to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74519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>
                <a:solidFill>
                  <a:srgbClr val="F5F0E8"/>
                </a:solidFill>
              </a:rPr>
              <a:t>  •  New to the genre? Hard to know where to start.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Already deep in it? Hard to know what comes next.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Topic overlap is massive — postcolonial theory, Marxism, feminist theory, critical race theory all intersect.</a:t>
            </a:r>
          </a:p>
          <a:p>
            <a:pPr algn="l"/>
            <a:r>
              <a:rPr sz="1900">
                <a:solidFill>
                  <a:srgbClr val="F5F0E8"/>
                </a:solidFill>
              </a:rPr>
              <a:t>  •  A recommender connects the dots for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828800"/>
            <a:ext cx="36576" cy="438912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5D78E"/>
                </a:solidFill>
              </a:rPr>
              <a:t>→  The recommender saves time, surfaces the unexpected, and helps readers navigate a dense and rewarding genre.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4C5A9"/>
                </a:solidFill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417320"/>
            <a:ext cx="11430000" cy="36576"/>
          </a:xfrm>
          <a:prstGeom prst="rect">
            <a:avLst/>
          </a:prstGeom>
          <a:solidFill>
            <a:srgbClr val="F5D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D78E"/>
                </a:solidFill>
              </a:rPr>
              <a:t>THE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F0E8"/>
                </a:solidFill>
              </a:rPr>
              <a:t>How the recommender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2103120" cy="411480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01168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D78E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51460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F0E8"/>
                </a:solidFill>
              </a:rP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063240"/>
            <a:ext cx="19202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C5A9"/>
                </a:solidFill>
              </a:rPr>
              <a:t>~3,034 books scraped from APIs and the web.
Titles, authors, descriptions, publication years.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1920240"/>
            <a:ext cx="2103120" cy="411480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201168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D78E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251460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F0E8"/>
                </a:solidFill>
              </a:rPr>
              <a:t>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3063240"/>
            <a:ext cx="19202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C5A9"/>
                </a:solidFill>
              </a:rPr>
              <a:t>Deduplication, missing-value handling,
normalising formats across sources.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28616" y="1920240"/>
            <a:ext cx="2103120" cy="411480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344" y="201168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D78E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51460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F0E8"/>
                </a:solidFill>
              </a:rPr>
              <a:t>Vectorise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8344" y="3063240"/>
            <a:ext cx="19202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C5A9"/>
                </a:solidFill>
              </a:rPr>
              <a:t>TF-IDF on titles + descriptions.
Converts text into numerical vectors.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41464" y="1920240"/>
            <a:ext cx="2103120" cy="411480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1192" y="201168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D78E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51460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F0E8"/>
                </a:solidFill>
              </a:rP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3063240"/>
            <a:ext cx="19202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C5A9"/>
                </a:solidFill>
              </a:rPr>
              <a:t>Cosine similarity between query vector
and every book in the index.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54312" y="1920240"/>
            <a:ext cx="2103120" cy="411480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201168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D78E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514600"/>
            <a:ext cx="1920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F0E8"/>
                </a:solidFill>
              </a:rPr>
              <a:t>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63240"/>
            <a:ext cx="19202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C5A9"/>
                </a:solidFill>
              </a:rPr>
              <a:t>Top-N results ranked by similarity,
deployed as a Streamlit web app.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4C5A9"/>
                </a:solidFill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417320"/>
            <a:ext cx="11430000" cy="36576"/>
          </a:xfrm>
          <a:prstGeom prst="rect">
            <a:avLst/>
          </a:prstGeom>
          <a:solidFill>
            <a:srgbClr val="F5D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D78E"/>
                </a:solidFill>
              </a:rPr>
              <a:t>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F0E8"/>
                </a:solidFill>
              </a:rPr>
              <a:t>Why content-based filtering?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D78E"/>
                </a:solidFill>
              </a:rPr>
              <a:t>The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5F0E8"/>
                </a:solidFill>
              </a:rPr>
              <a:t>  •  Content-based filtering — recommends based on what a book is about, not on what other users clicked.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Each book is turned into a vector of weighted terms (TF-IDF). The query is vectorised the same way.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Cosine similarity measures the angle between vectors — it captures topical overlap regardless of book length.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Returns the top-N closest books in the vector space.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D78E"/>
                </a:solidFill>
              </a:rPr>
              <a:t>Why not collaborative filtering?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01168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5F0E8"/>
                </a:solidFill>
              </a:rPr>
              <a:t>  •  Collaborative filtering needs user ratings and interaction history — we have neither.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This niche is too small for meaningful user-behaviour data.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TF-IDF is interpretable: you can see exactly which terms drove a recommendation.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EDA used KMeans clustering (k=5) + PCA to validate that the books naturally group into coherent topic clusters — confirming the vector space is meaningful.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54480"/>
            <a:ext cx="36576" cy="4572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4C5A9"/>
                </a:solidFill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417320"/>
            <a:ext cx="11430000" cy="36576"/>
          </a:xfrm>
          <a:prstGeom prst="rect">
            <a:avLst/>
          </a:prstGeom>
          <a:solidFill>
            <a:srgbClr val="F5D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D78E"/>
                </a:solidFill>
              </a:rPr>
              <a:t>THE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F0E8"/>
                </a:solidFill>
              </a:rPr>
              <a:t>What the process actually looked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7568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Data 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5257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5F0E8"/>
                </a:solidFill>
              </a:rPr>
              <a:t>  •  Hit API rate limits repeatedly — had to slow down and batch requests.</a:t>
            </a:r>
          </a:p>
          <a:p>
            <a:pPr algn="l"/>
            <a:r>
              <a:rPr sz="1300">
                <a:solidFill>
                  <a:srgbClr val="F5F0E8"/>
                </a:solidFill>
              </a:rPr>
              <a:t>  •  Scraped two sources and merged them, with lots of duplicate noise.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96596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7568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Data cleaning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5257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5F0E8"/>
                </a:solidFill>
              </a:rPr>
              <a:t>  •  Inconsistent author names, missing descriptions, broken years.</a:t>
            </a:r>
          </a:p>
          <a:p>
            <a:pPr algn="l"/>
            <a:r>
              <a:rPr sz="1300">
                <a:solidFill>
                  <a:srgbClr val="F5F0E8"/>
                </a:solidFill>
              </a:rPr>
              <a:t>  •  Manually reviewed edge cases — some 'books' were study guides or Wikipedia dumps.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052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2702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Building the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257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5F0E8"/>
                </a:solidFill>
              </a:rPr>
              <a:t>  •  TF-IDF is simple but surprisingly effective for text matching.</a:t>
            </a:r>
          </a:p>
          <a:p>
            <a:pPr algn="l"/>
            <a:r>
              <a:rPr sz="1300">
                <a:solidFill>
                  <a:srgbClr val="F5F0E8"/>
                </a:solidFill>
              </a:rPr>
              <a:t>  •  Tuning what to include in the vectoriser (title only vs title + description) made a big difference.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16052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702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The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663440"/>
            <a:ext cx="5257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5F0E8"/>
                </a:solidFill>
              </a:rPr>
              <a:t>  •  Connecting the recommender to Streamlit was smooth.</a:t>
            </a:r>
          </a:p>
          <a:p>
            <a:pPr algn="l"/>
            <a:r>
              <a:rPr sz="1300">
                <a:solidFill>
                  <a:srgbClr val="F5F0E8"/>
                </a:solidFill>
              </a:rPr>
              <a:t>  •  Cover images from Open Library added life to the results — but not all books have covers.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4C5A9"/>
                </a:solidFill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417320"/>
            <a:ext cx="11430000" cy="36576"/>
          </a:xfrm>
          <a:prstGeom prst="rect">
            <a:avLst/>
          </a:prstGeom>
          <a:solidFill>
            <a:srgbClr val="F5D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D78E"/>
                </a:solidFill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F0E8"/>
                </a:solidFill>
              </a:rPr>
              <a:t>Who it's for — and 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D78E"/>
                </a:solidFill>
              </a:rPr>
              <a:t>The 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5F0E8"/>
                </a:solidFill>
              </a:rPr>
              <a:t>  •  Readers who already know they want 'something like Naomi Klein'.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Students and researchers navigating critical theory for the first time.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Activists and organisers looking for reading lists.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Anyone who's frustrated that Goodreads keeps recommending the same 10 books.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D78E"/>
                </a:solidFill>
              </a:rPr>
              <a:t>Why it's valuable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01168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5F0E8"/>
                </a:solidFill>
              </a:rPr>
              <a:t>  •  Saves hours of browsing and searching.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Surfaces authors you'd never find on your own.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Works by topic, author, or free-text keyword — flexible for different needs.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Brings a marginalised genre into the same UX quality as mainstream recommenders.</a:t>
            </a:r>
          </a:p>
          <a:p>
            <a:pPr algn="l"/>
            <a:r>
              <a:rPr sz="1700">
                <a:solidFill>
                  <a:srgbClr val="F5F0E8"/>
                </a:solidFill>
              </a:rPr>
              <a:t>  •  Free, open, and accessible in the browser — no account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54480"/>
            <a:ext cx="36576" cy="4572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4C5A9"/>
                </a:solidFill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C4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417320"/>
            <a:ext cx="11430000" cy="36576"/>
          </a:xfrm>
          <a:prstGeom prst="rect">
            <a:avLst/>
          </a:prstGeom>
          <a:solidFill>
            <a:srgbClr val="F5D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D78E"/>
                </a:solidFill>
              </a:rPr>
              <a:t>THE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F0E8"/>
                </a:solidFill>
              </a:rPr>
              <a:t>What was hard — and what we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7568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Scraping at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5F0E8"/>
                </a:solidFill>
              </a:rPr>
              <a:t>  •  APIs imposed rate limits — every source had to be batched and throttled.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Scraping ~3,000 books took significantly longer than expected.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Two sources had different formats; merging them cleanly required careful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96596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7568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Dirty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5F0E8"/>
                </a:solidFill>
              </a:rPr>
              <a:t>  •  Author names had dozens of variants for the same person.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Descriptions were missing for a large portion of titles.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Some entries weren't books at all — study guides, Wikipedia articles, duplicates.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1480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22452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Choosing what to vectorise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1772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5F0E8"/>
                </a:solidFill>
              </a:rPr>
              <a:t>  •  Title-only vectorisation was too shallow; descriptions added crucial context.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Stop-word removal and n-gram tuning had a noticeable impact on result quality.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No ground-truth labels — evaluation was manual and subjective.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114800"/>
            <a:ext cx="5394960" cy="1920240"/>
          </a:xfrm>
          <a:prstGeom prst="rect">
            <a:avLst/>
          </a:prstGeom>
          <a:solidFill>
            <a:srgbClr val="2E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2452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78E"/>
                </a:solidFill>
              </a:rPr>
              <a:t>Cover images &amp; links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61772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5F0E8"/>
                </a:solidFill>
              </a:rPr>
              <a:t>  •  Not all books exist in Open Library — missing covers needed a graceful fallback.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Goodreads links depended on Open Library keys being in the right format.</a:t>
            </a:r>
          </a:p>
          <a:p>
            <a:pPr algn="l"/>
            <a:r>
              <a:rPr sz="1200">
                <a:solidFill>
                  <a:srgbClr val="F5F0E8"/>
                </a:solidFill>
              </a:rPr>
              <a:t>  •  Live API calls in Streamlit required caching to avoid slow load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4C5A9"/>
                </a:solidFill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