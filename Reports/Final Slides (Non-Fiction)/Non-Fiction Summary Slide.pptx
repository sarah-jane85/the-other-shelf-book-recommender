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32504" cy="6858000"/>
          </a:xfrm>
          <a:prstGeom prst="rect">
            <a:avLst/>
          </a:prstGeom>
          <a:solidFill>
            <a:srgbClr val="2D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78224" y="0"/>
            <a:ext cx="4032504" cy="6858000"/>
          </a:xfrm>
          <a:prstGeom prst="rect">
            <a:avLst/>
          </a:prstGeom>
          <a:solidFill>
            <a:srgbClr val="1E9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56448" y="0"/>
            <a:ext cx="4032504" cy="6858000"/>
          </a:xfrm>
          <a:prstGeom prst="rect">
            <a:avLst/>
          </a:prstGeom>
          <a:solidFill>
            <a:srgbClr val="2D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384048"/>
            <a:ext cx="3630168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Genre Specific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Challenges</a:t>
            </a:r>
          </a:p>
          <a:p>
            <a:r>
              <a:rPr sz="1200"/>
              <a:t/>
            </a:r>
          </a:p>
          <a:p>
            <a:pPr algn="l"/>
            <a:r>
              <a:rPr sz="1200" b="0">
                <a:solidFill>
                  <a:srgbClr val="4A7E7C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Language barrier:</a:t>
            </a:r>
          </a:p>
          <a:p>
            <a:pPr algn="l"/>
            <a:r>
              <a:rPr sz="1400" b="0">
                <a:solidFill>
                  <a:srgbClr val="CEE0DE"/>
                </a:solidFill>
              </a:rPr>
              <a:t>   many core thinkers write in French &amp; Portuguese — 1,211 books removed by language filter</a:t>
            </a:r>
          </a:p>
          <a:p>
            <a:r>
              <a:rPr sz="1000"/>
              <a:t/>
            </a:r>
          </a:p>
          <a:p>
            <a:pPr algn="l"/>
            <a:r>
              <a:rPr sz="1200" b="0">
                <a:solidFill>
                  <a:srgbClr val="4A7E7C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Metadata ambiguity:</a:t>
            </a:r>
          </a:p>
          <a:p>
            <a:pPr algn="l"/>
            <a:r>
              <a:rPr sz="1400" b="0">
                <a:solidFill>
                  <a:srgbClr val="CEE0DE"/>
                </a:solidFill>
              </a:rPr>
              <a:t>   memoir · history · biography · study guides · Wikipedia articles — hard to filter cleanly</a:t>
            </a:r>
          </a:p>
          <a:p>
            <a:r>
              <a:rPr sz="1000"/>
              <a:t/>
            </a:r>
          </a:p>
          <a:p>
            <a:pPr algn="l"/>
            <a:r>
              <a:rPr sz="1200" b="0">
                <a:solidFill>
                  <a:srgbClr val="4A7E7C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Key challenge:</a:t>
            </a:r>
          </a:p>
          <a:p>
            <a:pPr algn="l"/>
            <a:r>
              <a:rPr sz="1400" b="0">
                <a:solidFill>
                  <a:srgbClr val="CEE0DE"/>
                </a:solidFill>
              </a:rPr>
              <a:t>   defining left-wing non-fiction — the curated author list IS the genre boundary</a:t>
            </a:r>
          </a:p>
          <a:p>
            <a:r>
              <a:rPr sz="1000"/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9392" y="384048"/>
            <a:ext cx="3630168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Discovery</a:t>
            </a:r>
          </a:p>
          <a:p>
            <a:r>
              <a:rPr sz="2000"/>
              <a:t/>
            </a:r>
          </a:p>
          <a:p>
            <a:pPr algn="l"/>
            <a:r>
              <a:rPr sz="1200" b="0">
                <a:solidFill>
                  <a:srgbClr val="105852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After cleaning, strong themes emerged:</a:t>
            </a:r>
          </a:p>
          <a:p>
            <a:pPr algn="l"/>
            <a:r>
              <a:rPr sz="1400" b="0">
                <a:solidFill>
                  <a:srgbClr val="CEE0DE"/>
                </a:solidFill>
              </a:rPr>
              <a:t>   postcolonial theory · race · labour · feminist theory · decolonisation</a:t>
            </a:r>
          </a:p>
          <a:p>
            <a:r>
              <a:rPr sz="1000"/>
              <a:t/>
            </a:r>
          </a:p>
          <a:p>
            <a:pPr algn="l"/>
            <a:r>
              <a:rPr sz="1200" b="0">
                <a:solidFill>
                  <a:srgbClr val="105852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Insight:</a:t>
            </a:r>
          </a:p>
          <a:p>
            <a:pPr algn="l"/>
            <a:r>
              <a:rPr sz="1400" b="0">
                <a:solidFill>
                  <a:srgbClr val="CEE0DE"/>
                </a:solidFill>
              </a:rPr>
              <a:t>   TF-IDF + cosine similarity works remarkably well in a focused, well-defined domain</a:t>
            </a:r>
          </a:p>
          <a:p>
            <a:r>
              <a:rPr sz="1000"/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7616" y="384048"/>
            <a:ext cx="3630168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Takeaway</a:t>
            </a:r>
          </a:p>
          <a:p>
            <a:r>
              <a:rPr sz="2000"/>
              <a:t/>
            </a:r>
          </a:p>
          <a:p>
            <a:pPr algn="l"/>
            <a:r>
              <a:rPr sz="1200" b="0">
                <a:solidFill>
                  <a:srgbClr val="4A7E7C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The recommender improved when the genre definition improved.</a:t>
            </a:r>
          </a:p>
          <a:p>
            <a:r>
              <a:rPr sz="1000"/>
              <a:t/>
            </a:r>
          </a:p>
          <a:p>
            <a:pPr algn="l"/>
            <a:r>
              <a:rPr sz="1200" b="0">
                <a:solidFill>
                  <a:srgbClr val="4A7E7C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Data quality &gt; model complexity</a:t>
            </a:r>
          </a:p>
          <a:p>
            <a:r>
              <a:rPr sz="1000"/>
              <a:t/>
            </a:r>
          </a:p>
          <a:p>
            <a:pPr algn="l"/>
            <a:r>
              <a:rPr sz="1200" b="0">
                <a:solidFill>
                  <a:srgbClr val="4A7E7C"/>
                </a:solidFill>
              </a:rPr>
              <a:t>▪  </a:t>
            </a:r>
            <a:r>
              <a:rPr sz="1600" b="1">
                <a:solidFill>
                  <a:srgbClr val="FFFFFF"/>
                </a:solidFill>
              </a:rPr>
              <a:t>Bigrams captured compound concepts</a:t>
            </a:r>
          </a:p>
          <a:p>
            <a:pPr algn="l"/>
            <a:r>
              <a:rPr sz="1400" b="0">
                <a:solidFill>
                  <a:srgbClr val="CEE0DE"/>
                </a:solidFill>
              </a:rPr>
              <a:t>   "racial capitalism" · "critical theory" — missed entirely by unigrams</a:t>
            </a:r>
          </a:p>
          <a:p>
            <a:r>
              <a:rPr sz="1000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